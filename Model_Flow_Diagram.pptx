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29DE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0" d="100"/>
          <a:sy n="80" d="100"/>
        </p:scale>
        <p:origin x="56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14402-7FE8-4A7B-9B13-2D3EF6407A28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41FA7-EAFD-435D-BF76-E03891301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916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14402-7FE8-4A7B-9B13-2D3EF6407A28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41FA7-EAFD-435D-BF76-E03891301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304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14402-7FE8-4A7B-9B13-2D3EF6407A28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41FA7-EAFD-435D-BF76-E03891301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401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14402-7FE8-4A7B-9B13-2D3EF6407A28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41FA7-EAFD-435D-BF76-E03891301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504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14402-7FE8-4A7B-9B13-2D3EF6407A28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41FA7-EAFD-435D-BF76-E03891301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24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14402-7FE8-4A7B-9B13-2D3EF6407A28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41FA7-EAFD-435D-BF76-E03891301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806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14402-7FE8-4A7B-9B13-2D3EF6407A28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41FA7-EAFD-435D-BF76-E03891301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67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14402-7FE8-4A7B-9B13-2D3EF6407A28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41FA7-EAFD-435D-BF76-E03891301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413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14402-7FE8-4A7B-9B13-2D3EF6407A28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41FA7-EAFD-435D-BF76-E03891301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706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14402-7FE8-4A7B-9B13-2D3EF6407A28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41FA7-EAFD-435D-BF76-E03891301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890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14402-7FE8-4A7B-9B13-2D3EF6407A28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41FA7-EAFD-435D-BF76-E03891301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238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214402-7FE8-4A7B-9B13-2D3EF6407A28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841FA7-EAFD-435D-BF76-E03891301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504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893762" y="166760"/>
            <a:ext cx="8299938" cy="5941132"/>
            <a:chOff x="1893762" y="166760"/>
            <a:chExt cx="8299938" cy="5941132"/>
          </a:xfrm>
        </p:grpSpPr>
        <p:sp>
          <p:nvSpPr>
            <p:cNvPr id="5" name="Rounded Rectangle 4"/>
            <p:cNvSpPr/>
            <p:nvPr/>
          </p:nvSpPr>
          <p:spPr>
            <a:xfrm>
              <a:off x="1893763" y="166760"/>
              <a:ext cx="8299937" cy="1230620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 smtClean="0">
                  <a:solidFill>
                    <a:schemeClr val="tx1"/>
                  </a:solidFill>
                </a:rPr>
                <a:t>User Inputs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656141" y="237802"/>
              <a:ext cx="1348154" cy="1062493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sz="1050" u="sng" dirty="0" smtClean="0"/>
                <a:t>Reactor Geometry</a:t>
              </a:r>
            </a:p>
            <a:p>
              <a:pPr algn="ctr"/>
              <a:r>
                <a:rPr lang="en-US" sz="800" dirty="0" smtClean="0"/>
                <a:t>Open raceway pond dimensions (L, W, D); Vertical flat plate photobioreactor dimensions (L, W, D, north angle, spacing)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680159" y="286413"/>
              <a:ext cx="1771585" cy="956898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sz="1050" u="sng" dirty="0" smtClean="0"/>
                <a:t>Strain Parameters</a:t>
              </a:r>
            </a:p>
            <a:p>
              <a:pPr algn="ctr"/>
              <a:r>
                <a:rPr lang="en-US" sz="800" dirty="0" smtClean="0"/>
                <a:t>Saturation (optimum) light intensity; Optical Density Coefficient (ODC); night respiration rate; maximum, minimum, and optimal temperatures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093246" y="293925"/>
              <a:ext cx="1301272" cy="949568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sz="1050" u="sng" dirty="0" smtClean="0"/>
                <a:t>Location and Time </a:t>
              </a:r>
            </a:p>
            <a:p>
              <a:pPr algn="ctr"/>
              <a:r>
                <a:rPr lang="en-US" sz="800" dirty="0" smtClean="0"/>
                <a:t>Latitude and longitude; select season, date range, or annual analysis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540695" y="293743"/>
              <a:ext cx="1507866" cy="949568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sz="1050" u="sng" dirty="0" smtClean="0"/>
                <a:t>Process Parameters</a:t>
              </a:r>
            </a:p>
            <a:p>
              <a:pPr algn="ctr"/>
              <a:r>
                <a:rPr lang="en-US" sz="800" dirty="0" smtClean="0"/>
                <a:t>Maximum concentration </a:t>
              </a:r>
            </a:p>
            <a:p>
              <a:pPr algn="ctr"/>
              <a:r>
                <a:rPr lang="en-US" sz="800" dirty="0" smtClean="0"/>
                <a:t>(g m</a:t>
              </a:r>
              <a:r>
                <a:rPr lang="en-US" sz="800" baseline="30000" dirty="0" smtClean="0"/>
                <a:t>-3</a:t>
              </a:r>
              <a:r>
                <a:rPr lang="en-US" sz="800" dirty="0" smtClean="0"/>
                <a:t>) or harvesting period (days); inoculation concentration; number of ponds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893762" y="1590738"/>
              <a:ext cx="8299938" cy="106387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 smtClean="0">
                  <a:solidFill>
                    <a:schemeClr val="tx1"/>
                  </a:solidFill>
                </a:rPr>
                <a:t>Model-Determined</a:t>
              </a:r>
            </a:p>
            <a:p>
              <a:r>
                <a:rPr lang="en-US" b="1" dirty="0" smtClean="0">
                  <a:solidFill>
                    <a:schemeClr val="tx1"/>
                  </a:solidFill>
                </a:rPr>
                <a:t>Inputs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5743882" y="1712048"/>
              <a:ext cx="1454378" cy="829665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sz="1050" u="sng" dirty="0" smtClean="0"/>
                <a:t>TMY3 Weather Data</a:t>
              </a:r>
            </a:p>
            <a:p>
              <a:pPr algn="ctr"/>
              <a:r>
                <a:rPr lang="en-US" sz="800" dirty="0" smtClean="0"/>
                <a:t>GHI (W m</a:t>
              </a:r>
              <a:r>
                <a:rPr lang="en-US" sz="800" baseline="30000" dirty="0" smtClean="0"/>
                <a:t>-2</a:t>
              </a:r>
              <a:r>
                <a:rPr lang="en-US" sz="800" dirty="0" smtClean="0"/>
                <a:t>); ambient </a:t>
              </a:r>
              <a:r>
                <a:rPr lang="en-US" sz="800" dirty="0"/>
                <a:t>t</a:t>
              </a:r>
              <a:r>
                <a:rPr lang="en-US" sz="800" dirty="0" smtClean="0"/>
                <a:t>emperature (ºC); wind speed (m s</a:t>
              </a:r>
              <a:r>
                <a:rPr lang="en-US" sz="800" baseline="30000" dirty="0" smtClean="0"/>
                <a:t>-1</a:t>
              </a:r>
              <a:r>
                <a:rPr lang="en-US" sz="800" dirty="0" smtClean="0"/>
                <a:t>); relative humidity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4359750" y="1719309"/>
              <a:ext cx="1292839" cy="811677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sz="1050" u="sng" dirty="0" smtClean="0"/>
                <a:t>Culture Properties</a:t>
              </a:r>
            </a:p>
            <a:p>
              <a:pPr algn="ctr"/>
              <a:r>
                <a:rPr lang="en-US" sz="800" dirty="0" smtClean="0"/>
                <a:t>Surface area; pond volume; characteristic length</a:t>
              </a:r>
              <a:endParaRPr lang="en-US" sz="800" dirty="0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893763" y="3904816"/>
              <a:ext cx="8299937" cy="1152221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 smtClean="0">
                  <a:solidFill>
                    <a:schemeClr val="tx1"/>
                  </a:solidFill>
                </a:rPr>
                <a:t>Growth Model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1893762" y="5229902"/>
              <a:ext cx="8299938" cy="87799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 smtClean="0">
                  <a:solidFill>
                    <a:schemeClr val="tx1"/>
                  </a:solidFill>
                </a:rPr>
                <a:t>Model Outputs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5517085" y="5429306"/>
              <a:ext cx="1205977" cy="479178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Time Resolved Growth Rate</a:t>
              </a:r>
              <a:endParaRPr lang="en-US" sz="1050" dirty="0" smtClean="0"/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7054229" y="4015503"/>
              <a:ext cx="1652961" cy="853412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sz="1050" u="sng" dirty="0" smtClean="0"/>
                <a:t>Efficiency Factors</a:t>
              </a:r>
            </a:p>
            <a:p>
              <a:pPr algn="ctr"/>
              <a:r>
                <a:rPr lang="en-US" sz="900" dirty="0" smtClean="0"/>
                <a:t>Light efficiency; temperature efficiency; decay rate (night respiration loss)</a:t>
              </a:r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3834965" y="5445657"/>
              <a:ext cx="1482959" cy="479178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Time Resolved Pond Temperature</a:t>
              </a:r>
              <a:endParaRPr lang="en-US" sz="1050" dirty="0" smtClean="0"/>
            </a:p>
          </p:txBody>
        </p:sp>
        <p:sp>
          <p:nvSpPr>
            <p:cNvPr id="82" name="Rounded Rectangle 81"/>
            <p:cNvSpPr/>
            <p:nvPr/>
          </p:nvSpPr>
          <p:spPr>
            <a:xfrm>
              <a:off x="1893762" y="2836196"/>
              <a:ext cx="8299938" cy="892977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 smtClean="0">
                  <a:solidFill>
                    <a:schemeClr val="tx1"/>
                  </a:solidFill>
                </a:rPr>
                <a:t>Thermal Model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567719" y="2951565"/>
              <a:ext cx="2224879" cy="662238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sz="1050" u="sng" dirty="0" smtClean="0"/>
                <a:t>Thermal Fluxes</a:t>
              </a:r>
            </a:p>
            <a:p>
              <a:pPr algn="ctr"/>
              <a:r>
                <a:rPr lang="en-US" sz="900" dirty="0" smtClean="0"/>
                <a:t>Direct </a:t>
              </a:r>
              <a:r>
                <a:rPr lang="en-US" sz="900" dirty="0"/>
                <a:t>s</a:t>
              </a:r>
              <a:r>
                <a:rPr lang="en-US" sz="900" dirty="0" smtClean="0"/>
                <a:t>olar; air radiation; pond radiation; convection; evaporation; ground conduction; </a:t>
              </a:r>
              <a:r>
                <a:rPr lang="en-US" sz="900" dirty="0"/>
                <a:t>i</a:t>
              </a:r>
              <a:r>
                <a:rPr lang="en-US" sz="900" dirty="0" smtClean="0"/>
                <a:t>nflow</a:t>
              </a:r>
              <a:endParaRPr lang="en-US" sz="900" dirty="0"/>
            </a:p>
          </p:txBody>
        </p:sp>
        <p:cxnSp>
          <p:nvCxnSpPr>
            <p:cNvPr id="87" name="Elbow Connector 86"/>
            <p:cNvCxnSpPr>
              <a:stCxn id="6" idx="2"/>
              <a:endCxn id="21" idx="0"/>
            </p:cNvCxnSpPr>
            <p:nvPr/>
          </p:nvCxnSpPr>
          <p:spPr>
            <a:xfrm rot="16200000" flipH="1">
              <a:off x="4458687" y="1171826"/>
              <a:ext cx="419014" cy="675952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Elbow Connector 90"/>
            <p:cNvCxnSpPr>
              <a:stCxn id="8" idx="2"/>
              <a:endCxn id="13" idx="0"/>
            </p:cNvCxnSpPr>
            <p:nvPr/>
          </p:nvCxnSpPr>
          <p:spPr>
            <a:xfrm rot="16200000" flipH="1">
              <a:off x="5873199" y="1114175"/>
              <a:ext cx="468555" cy="727189"/>
            </a:xfrm>
            <a:prstGeom prst="bentConnector3">
              <a:avLst/>
            </a:prstGeom>
            <a:ln w="1905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Elbow Connector 94"/>
            <p:cNvCxnSpPr>
              <a:stCxn id="13" idx="2"/>
              <a:endCxn id="11" idx="0"/>
            </p:cNvCxnSpPr>
            <p:nvPr/>
          </p:nvCxnSpPr>
          <p:spPr>
            <a:xfrm rot="16200000" flipH="1">
              <a:off x="6370689" y="2642095"/>
              <a:ext cx="409852" cy="209088"/>
            </a:xfrm>
            <a:prstGeom prst="bentConnector3">
              <a:avLst>
                <a:gd name="adj1" fmla="val 47676"/>
              </a:avLst>
            </a:prstGeom>
            <a:ln w="1905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Elbow Connector 101"/>
            <p:cNvCxnSpPr>
              <a:stCxn id="21" idx="2"/>
              <a:endCxn id="11" idx="0"/>
            </p:cNvCxnSpPr>
            <p:nvPr/>
          </p:nvCxnSpPr>
          <p:spPr>
            <a:xfrm rot="16200000" flipH="1">
              <a:off x="5632875" y="1904280"/>
              <a:ext cx="420579" cy="1673989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Elbow Connector 119"/>
            <p:cNvCxnSpPr>
              <a:stCxn id="11" idx="1"/>
              <a:endCxn id="46" idx="0"/>
            </p:cNvCxnSpPr>
            <p:nvPr/>
          </p:nvCxnSpPr>
          <p:spPr>
            <a:xfrm rot="10800000" flipV="1">
              <a:off x="4576445" y="3282683"/>
              <a:ext cx="991274" cy="2162973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Elbow Connector 125"/>
            <p:cNvCxnSpPr>
              <a:stCxn id="11" idx="2"/>
              <a:endCxn id="52" idx="0"/>
            </p:cNvCxnSpPr>
            <p:nvPr/>
          </p:nvCxnSpPr>
          <p:spPr>
            <a:xfrm rot="16200000" flipH="1">
              <a:off x="7079584" y="3214377"/>
              <a:ext cx="401700" cy="1200551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Elbow Connector 142"/>
            <p:cNvCxnSpPr>
              <a:stCxn id="7" idx="2"/>
              <a:endCxn id="52" idx="0"/>
            </p:cNvCxnSpPr>
            <p:nvPr/>
          </p:nvCxnSpPr>
          <p:spPr>
            <a:xfrm rot="16200000" flipH="1">
              <a:off x="6337235" y="2472028"/>
              <a:ext cx="2772192" cy="314758"/>
            </a:xfrm>
            <a:prstGeom prst="bentConnector3">
              <a:avLst>
                <a:gd name="adj1" fmla="val 8769"/>
              </a:avLst>
            </a:prstGeom>
            <a:ln w="1905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Rounded Rectangle 157"/>
            <p:cNvSpPr/>
            <p:nvPr/>
          </p:nvSpPr>
          <p:spPr>
            <a:xfrm>
              <a:off x="9048587" y="5344988"/>
              <a:ext cx="1041072" cy="647815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50" u="sng" dirty="0" smtClean="0"/>
                <a:t>Consumption</a:t>
              </a:r>
            </a:p>
            <a:p>
              <a:pPr algn="ctr"/>
              <a:r>
                <a:rPr lang="en-US" sz="1000" dirty="0" smtClean="0"/>
                <a:t>CO</a:t>
              </a:r>
              <a:r>
                <a:rPr lang="en-US" sz="1000" baseline="-25000" dirty="0" smtClean="0"/>
                <a:t>2</a:t>
              </a:r>
              <a:r>
                <a:rPr lang="en-US" sz="1000" dirty="0" smtClean="0"/>
                <a:t>, nutrients, water consumption</a:t>
              </a:r>
            </a:p>
          </p:txBody>
        </p:sp>
        <p:sp>
          <p:nvSpPr>
            <p:cNvPr id="159" name="Rounded Rectangle 158"/>
            <p:cNvSpPr/>
            <p:nvPr/>
          </p:nvSpPr>
          <p:spPr>
            <a:xfrm>
              <a:off x="7237913" y="5344989"/>
              <a:ext cx="1628051" cy="647815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50" u="sng" dirty="0" smtClean="0"/>
                <a:t>Production</a:t>
              </a:r>
            </a:p>
            <a:p>
              <a:pPr algn="ctr"/>
              <a:r>
                <a:rPr lang="en-US" sz="1000" dirty="0" smtClean="0"/>
                <a:t>Total biomass (g m</a:t>
              </a:r>
              <a:r>
                <a:rPr lang="en-US" sz="1000" baseline="30000" dirty="0" smtClean="0"/>
                <a:t>-2 </a:t>
              </a:r>
              <a:r>
                <a:rPr lang="en-US" sz="1000" dirty="0" smtClean="0"/>
                <a:t>day</a:t>
              </a:r>
              <a:r>
                <a:rPr lang="en-US" sz="1000" baseline="30000" dirty="0" smtClean="0"/>
                <a:t>-1</a:t>
              </a:r>
              <a:r>
                <a:rPr lang="en-US" sz="1000" dirty="0" smtClean="0"/>
                <a:t>); average concentration at harvest</a:t>
              </a:r>
            </a:p>
          </p:txBody>
        </p:sp>
        <p:cxnSp>
          <p:nvCxnSpPr>
            <p:cNvPr id="160" name="Elbow Connector 159"/>
            <p:cNvCxnSpPr>
              <a:stCxn id="52" idx="2"/>
              <a:endCxn id="36" idx="0"/>
            </p:cNvCxnSpPr>
            <p:nvPr/>
          </p:nvCxnSpPr>
          <p:spPr>
            <a:xfrm rot="5400000">
              <a:off x="6720197" y="4268792"/>
              <a:ext cx="560391" cy="1760636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Elbow Connector 171"/>
            <p:cNvCxnSpPr>
              <a:stCxn id="9" idx="2"/>
              <a:endCxn id="159" idx="0"/>
            </p:cNvCxnSpPr>
            <p:nvPr/>
          </p:nvCxnSpPr>
          <p:spPr>
            <a:xfrm rot="5400000">
              <a:off x="6622445" y="2672806"/>
              <a:ext cx="4101678" cy="1242689"/>
            </a:xfrm>
            <a:prstGeom prst="bentConnector3">
              <a:avLst>
                <a:gd name="adj1" fmla="val 94896"/>
              </a:avLst>
            </a:prstGeom>
            <a:ln w="1905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Arrow Connector 178"/>
            <p:cNvCxnSpPr>
              <a:stCxn id="36" idx="3"/>
              <a:endCxn id="159" idx="1"/>
            </p:cNvCxnSpPr>
            <p:nvPr/>
          </p:nvCxnSpPr>
          <p:spPr>
            <a:xfrm>
              <a:off x="6723062" y="5668895"/>
              <a:ext cx="514851" cy="2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Arrow Connector 181"/>
            <p:cNvCxnSpPr>
              <a:stCxn id="159" idx="3"/>
              <a:endCxn id="158" idx="1"/>
            </p:cNvCxnSpPr>
            <p:nvPr/>
          </p:nvCxnSpPr>
          <p:spPr>
            <a:xfrm flipV="1">
              <a:off x="8865964" y="5668896"/>
              <a:ext cx="182623" cy="1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lbow Connector 199"/>
            <p:cNvCxnSpPr>
              <a:endCxn id="158" idx="0"/>
            </p:cNvCxnSpPr>
            <p:nvPr/>
          </p:nvCxnSpPr>
          <p:spPr>
            <a:xfrm rot="16200000" flipH="1">
              <a:off x="7662380" y="3438245"/>
              <a:ext cx="2062306" cy="1751180"/>
            </a:xfrm>
            <a:prstGeom prst="bentConnector3">
              <a:avLst>
                <a:gd name="adj1" fmla="val 350"/>
              </a:avLst>
            </a:prstGeom>
            <a:ln w="1905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lbow Connector 203"/>
            <p:cNvCxnSpPr>
              <a:stCxn id="9" idx="2"/>
              <a:endCxn id="158" idx="0"/>
            </p:cNvCxnSpPr>
            <p:nvPr/>
          </p:nvCxnSpPr>
          <p:spPr>
            <a:xfrm rot="16200000" flipH="1">
              <a:off x="7381037" y="3156901"/>
              <a:ext cx="4101677" cy="274495"/>
            </a:xfrm>
            <a:prstGeom prst="bentConnector3">
              <a:avLst>
                <a:gd name="adj1" fmla="val 94935"/>
              </a:avLst>
            </a:prstGeom>
            <a:ln w="1905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91072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2771</TotalTime>
  <Words>194</Words>
  <Application>Microsoft Office PowerPoint</Application>
  <PresentationFormat>Widescreen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.</dc:creator>
  <cp:lastModifiedBy>.</cp:lastModifiedBy>
  <cp:revision>25</cp:revision>
  <dcterms:created xsi:type="dcterms:W3CDTF">2020-08-06T16:05:11Z</dcterms:created>
  <dcterms:modified xsi:type="dcterms:W3CDTF">2020-09-21T22:42:10Z</dcterms:modified>
</cp:coreProperties>
</file>